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  <p:embeddedFont>
      <p:font typeface="Source Sans 3"/>
      <p:regular r:id="rId22"/>
    </p:embeddedFont>
    <p:embeddedFont>
      <p:font typeface="Source Sans 3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03978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80679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insights from 3,900 purchases to drive strategic decisions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4099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43419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3.9K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936784" y="46323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51233" y="3543419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250293" y="46323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64743" y="3543419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35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7464743" y="4632365"/>
            <a:ext cx="301430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Data in Review Rating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78252" y="3543419"/>
            <a:ext cx="301442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25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10877312" y="46323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7724" y="560546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74558"/>
            <a:ext cx="662963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Preparation Process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357324"/>
            <a:ext cx="4318278" cy="957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039" y="45541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&amp; Clean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7039" y="5049679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loaded and Missing Data Handled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02" y="3357324"/>
            <a:ext cx="4318278" cy="9575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5317" y="45541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95317" y="5049679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Engineering and Data Consistency Check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279" y="3357324"/>
            <a:ext cx="4318278" cy="9575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3595" y="45541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3595" y="5049679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Integration using MYSQL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8210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914293"/>
            <a:ext cx="6185535" cy="34638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4761" y="288440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Insight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614761" y="354603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2x more revenue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than female customers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68229"/>
            <a:ext cx="612386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Products &amp; Ratings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370534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Highest Rated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837724" y="3193673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5" name="Text 3"/>
          <p:cNvSpPr/>
          <p:nvPr/>
        </p:nvSpPr>
        <p:spPr>
          <a:xfrm>
            <a:off x="1196697" y="3062049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 — 3.86★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37724" y="4055447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7" name="Text 5"/>
          <p:cNvSpPr/>
          <p:nvPr/>
        </p:nvSpPr>
        <p:spPr>
          <a:xfrm>
            <a:off x="1196697" y="3923824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 — 3.84★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837724" y="4917222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9" name="Text 7"/>
          <p:cNvSpPr/>
          <p:nvPr/>
        </p:nvSpPr>
        <p:spPr>
          <a:xfrm>
            <a:off x="1196697" y="4785598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Boots — 3.82★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37724" y="5778996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11" name="Text 9"/>
          <p:cNvSpPr/>
          <p:nvPr/>
        </p:nvSpPr>
        <p:spPr>
          <a:xfrm>
            <a:off x="1196697" y="5647373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 — 3.80★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7724" y="6640770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13" name="Text 11"/>
          <p:cNvSpPr/>
          <p:nvPr/>
        </p:nvSpPr>
        <p:spPr>
          <a:xfrm>
            <a:off x="1196697" y="6509147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Skirt— 3.78★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14761" y="2370534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Most Discounted</a:t>
            </a:r>
            <a:endParaRPr lang="en-US" sz="2650" dirty="0"/>
          </a:p>
        </p:txBody>
      </p:sp>
      <p:sp>
        <p:nvSpPr>
          <p:cNvPr id="15" name="Shape 13"/>
          <p:cNvSpPr/>
          <p:nvPr/>
        </p:nvSpPr>
        <p:spPr>
          <a:xfrm>
            <a:off x="7614761" y="3193673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16" name="Text 14"/>
          <p:cNvSpPr/>
          <p:nvPr/>
        </p:nvSpPr>
        <p:spPr>
          <a:xfrm>
            <a:off x="7973735" y="3062049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 — 50.00%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7614761" y="4055447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18" name="Text 16"/>
          <p:cNvSpPr/>
          <p:nvPr/>
        </p:nvSpPr>
        <p:spPr>
          <a:xfrm>
            <a:off x="7973735" y="3923824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Sneakers — 49.66%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7614761" y="4917222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20" name="Text 18"/>
          <p:cNvSpPr/>
          <p:nvPr/>
        </p:nvSpPr>
        <p:spPr>
          <a:xfrm>
            <a:off x="7973735" y="4785598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Coat — 49.07%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7614761" y="5778996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22" name="Text 20"/>
          <p:cNvSpPr/>
          <p:nvPr/>
        </p:nvSpPr>
        <p:spPr>
          <a:xfrm>
            <a:off x="7973735" y="5647373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Sweater — 48.17%</a:t>
            </a:r>
            <a:endParaRPr lang="en-US" sz="1850" dirty="0"/>
          </a:p>
        </p:txBody>
      </p:sp>
      <p:sp>
        <p:nvSpPr>
          <p:cNvPr id="23" name="Shape 21"/>
          <p:cNvSpPr/>
          <p:nvPr/>
        </p:nvSpPr>
        <p:spPr>
          <a:xfrm>
            <a:off x="7614761" y="6640770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38512F"/>
          </a:solidFill>
          <a:ln/>
        </p:spPr>
      </p:sp>
      <p:sp>
        <p:nvSpPr>
          <p:cNvPr id="24" name="Text 22"/>
          <p:cNvSpPr/>
          <p:nvPr/>
        </p:nvSpPr>
        <p:spPr>
          <a:xfrm>
            <a:off x="7973735" y="6509147"/>
            <a:ext cx="58265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Pants— 47.37%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82103"/>
            <a:ext cx="708183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Shipping Type Comparison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914293"/>
            <a:ext cx="6185535" cy="34638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4761" y="288440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Insight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614761" y="3546038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shipping customers have slightly higher average purchase amounts ($60.48 vs $58.46), suggesting premium service attracts higher-value transactions.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9203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Subscription Impact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174802"/>
            <a:ext cx="6357818" cy="2410420"/>
          </a:xfrm>
          <a:prstGeom prst="roundRect">
            <a:avLst>
              <a:gd name="adj" fmla="val 1490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34141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3909655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1053 Customers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77039" y="4436269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$62,645.00 Revenue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77039" y="4962882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$59.49 Avgerage spend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34858" y="3174802"/>
            <a:ext cx="6357818" cy="2410420"/>
          </a:xfrm>
          <a:prstGeom prst="roundRect">
            <a:avLst>
              <a:gd name="adj" fmla="val 1490"/>
            </a:avLst>
          </a:prstGeom>
          <a:solidFill>
            <a:srgbClr val="F3E7D4"/>
          </a:solidFill>
          <a:ln/>
        </p:spPr>
      </p:sp>
      <p:sp>
        <p:nvSpPr>
          <p:cNvPr id="9" name="Text 7"/>
          <p:cNvSpPr/>
          <p:nvPr/>
        </p:nvSpPr>
        <p:spPr>
          <a:xfrm>
            <a:off x="7674173" y="34141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74173" y="3909655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2847 Customers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74173" y="4436269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$170,436.00 Revenue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74173" y="4962882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$59.87 Avgerage spend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37724" y="585442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746" y="648057"/>
            <a:ext cx="6273879" cy="69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440656" y="3344108"/>
            <a:ext cx="2898577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80%</a:t>
            </a:r>
            <a:endParaRPr lang="en-US" sz="4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521" y="1871186"/>
            <a:ext cx="3534966" cy="35349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3759" y="5700593"/>
            <a:ext cx="2772489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 Customers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24746" y="6188512"/>
            <a:ext cx="4130516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3,116 customers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865733" y="3344108"/>
            <a:ext cx="2898577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18%</a:t>
            </a:r>
            <a:endParaRPr lang="en-US" sz="4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598" y="1871186"/>
            <a:ext cx="3534966" cy="3534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28836" y="5700593"/>
            <a:ext cx="2772489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Returning Customers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5249823" y="6188512"/>
            <a:ext cx="4130635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701 customers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0290929" y="3344108"/>
            <a:ext cx="2898577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2%</a:t>
            </a:r>
            <a:endParaRPr lang="en-US" sz="4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794" y="1871186"/>
            <a:ext cx="3534966" cy="35349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54032" y="5700593"/>
            <a:ext cx="2772489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Customers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9675019" y="6188512"/>
            <a:ext cx="4130516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 customers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46" y="6830497"/>
            <a:ext cx="12980908" cy="75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Loyal customers dominate the base at 80%, indicating strong customer retention. Focus on converting the 18% Returning segment into Loyal status.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27196"/>
            <a:ext cx="80031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Repeat Buyers &amp; Subscriptions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509962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3749278"/>
            <a:ext cx="466677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Non-Subscribers with &gt;5 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4244816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2,518 customers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3509962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7674173" y="3749278"/>
            <a:ext cx="398585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with &gt;5 Purchases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4173" y="4244816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958 customers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136356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72% of repeat buyers (&gt;5 purchases) are non-subscribers, representing a significant opportunity to convert loyal customers into the subscription model.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82103"/>
            <a:ext cx="592395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Age Group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914293"/>
            <a:ext cx="6185535" cy="34638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4761" y="288440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Insight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614761" y="3546038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Adults lead revenue contribution at $62,143 — prioritize this demographic for targeted marketing campaigns and product development.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07808"/>
            <a:ext cx="728233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2690574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35881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4083725"/>
            <a:ext cx="63278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for subscribers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743" y="2690574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4743" y="35881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64743" y="4083725"/>
            <a:ext cx="63279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build loyalty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724" y="4945499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7724" y="58431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37724" y="6338649"/>
            <a:ext cx="63278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4743" y="4945499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4743" y="58431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64743" y="6338649"/>
            <a:ext cx="63279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2025-12-26T23:04:02Z</dcterms:created>
  <dcterms:modified xsi:type="dcterms:W3CDTF">2025-12-26T23:04:02Z</dcterms:modified>
</cp:coreProperties>
</file>